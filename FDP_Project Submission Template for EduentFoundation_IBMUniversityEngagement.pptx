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8"/>
  </p:notesMasterIdLst>
  <p:sldIdLst>
    <p:sldId id="283" r:id="rId2"/>
    <p:sldId id="257" r:id="rId3"/>
    <p:sldId id="282" r:id="rId4"/>
    <p:sldId id="285" r:id="rId5"/>
    <p:sldId id="278" r:id="rId6"/>
    <p:sldId id="281" r:id="rId7"/>
    <p:sldId id="279" r:id="rId8"/>
    <p:sldId id="262" r:id="rId9"/>
    <p:sldId id="264" r:id="rId10"/>
    <p:sldId id="277" r:id="rId11"/>
    <p:sldId id="286" r:id="rId12"/>
    <p:sldId id="287" r:id="rId13"/>
    <p:sldId id="280" r:id="rId14"/>
    <p:sldId id="288" r:id="rId15"/>
    <p:sldId id="289" r:id="rId16"/>
    <p:sldId id="276" r:id="rId1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37A25B-DA5D-A37C-3B36-7F0977405ABF}" v="154" dt="2026-06-19T05:59:42.731"/>
    <p1510:client id="{088AD18C-7811-B1E2-9ED5-57A1A5542DF6}" v="456" dt="2026-06-19T06:28:44.54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del">
          <ac:chgData name="Aman Shrivastava" userId="S::ashrivastava@edunetfoundation.org::c21995ab-fa37-4cde-b5a3-dec0fb9e9a10" providerId="AD" clId="Web-{088AD18C-7811-B1E2-9ED5-57A1A5542DF6}" dt="2026-06-19T06:20:45.745" v="122"/>
          <ac:spMkLst>
            <pc:docMk/>
            <pc:sldMk cId="0" sldId="257"/>
            <ac:spMk id="2" creationId="{20FC1D0F-7927-693D-B3A8-BEEE7BBB2D18}"/>
          </ac:spMkLst>
        </pc:spChg>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pChg chg="add del mod">
          <ac:chgData name="Aman Shrivastava" userId="S::ashrivastava@edunetfoundation.org::c21995ab-fa37-4cde-b5a3-dec0fb9e9a10" providerId="AD" clId="Web-{088AD18C-7811-B1E2-9ED5-57A1A5542DF6}" dt="2026-06-19T06:24:02.481" v="214"/>
          <ac:spMkLst>
            <pc:docMk/>
            <pc:sldMk cId="0" sldId="257"/>
            <ac:spMk id="5" creationId="{8CF059D9-DCD7-9C47-2E79-C5986ADDD187}"/>
          </ac:spMkLst>
        </pc:spChg>
        <pc:spChg chg="add del mod">
          <ac:chgData name="Aman Shrivastava" userId="S::ashrivastava@edunetfoundation.org::c21995ab-fa37-4cde-b5a3-dec0fb9e9a10" providerId="AD" clId="Web-{088AD18C-7811-B1E2-9ED5-57A1A5542DF6}" dt="2026-06-19T06:24:33.481" v="246"/>
          <ac:spMkLst>
            <pc:docMk/>
            <pc:sldMk cId="0" sldId="257"/>
            <ac:spMk id="6" creationId="{351EC9F7-1007-D29E-338A-EEE56747ED3E}"/>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picChg chg="del">
          <ac:chgData name="Aman Shrivastava" userId="S::ashrivastava@edunetfoundation.org::c21995ab-fa37-4cde-b5a3-dec0fb9e9a10" providerId="AD" clId="Web-{088AD18C-7811-B1E2-9ED5-57A1A5542DF6}" dt="2026-06-19T06:15:23.585" v="76"/>
          <ac:picMkLst>
            <pc:docMk/>
            <pc:sldMk cId="0" sldId="262"/>
            <ac:picMk id="178" creationId="{00000000-0000-0000-0000-000000000000}"/>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del mod">
          <ac:chgData name="Aman Shrivastava" userId="S::ashrivastava@edunetfoundation.org::c21995ab-fa37-4cde-b5a3-dec0fb9e9a10" providerId="AD" clId="Web-{088AD18C-7811-B1E2-9ED5-57A1A5542DF6}" dt="2026-06-19T06:18:45.275" v="79"/>
          <ac:picMkLst>
            <pc:docMk/>
            <pc:sldMk cId="2115484872" sldId="277"/>
            <ac:picMk id="2" creationId="{E9DB3200-E2EC-A058-B02D-E1510060484E}"/>
          </ac:picMkLst>
        </pc:picChg>
        <pc:picChg chg="del">
          <ac:chgData name="Aman Shrivastava" userId="S::ashrivastava@edunetfoundation.org::c21995ab-fa37-4cde-b5a3-dec0fb9e9a10" providerId="AD" clId="Web-{088AD18C-7811-B1E2-9ED5-57A1A5542DF6}" dt="2026-06-19T06:18:46.790" v="80"/>
          <ac:picMkLst>
            <pc:docMk/>
            <pc:sldMk cId="2115484872" sldId="277"/>
            <ac:picMk id="3" creationId="{03614573-D426-9337-9C0E-5207B9123920}"/>
          </ac:picMkLst>
        </pc:pic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inkChg chg="add del">
          <ac:chgData name="Aman Shrivastava" userId="S::ashrivastava@edunetfoundation.org::c21995ab-fa37-4cde-b5a3-dec0fb9e9a10" providerId="AD" clId="Web-{088AD18C-7811-B1E2-9ED5-57A1A5542DF6}" dt="2026-06-19T05:51:50.431" v="39"/>
          <ac:inkMkLst>
            <pc:docMk/>
            <pc:sldMk cId="2115484872" sldId="277"/>
            <ac:inkMk id="4" creationId="{339FEE3F-7BE8-8E7A-6A09-16BCB25AB1EE}"/>
          </ac:inkMkLst>
        </pc:inkChg>
        <pc:inkChg chg="add del">
          <ac:chgData name="Aman Shrivastava" userId="S::ashrivastava@edunetfoundation.org::c21995ab-fa37-4cde-b5a3-dec0fb9e9a10" providerId="AD" clId="Web-{088AD18C-7811-B1E2-9ED5-57A1A5542DF6}" dt="2026-06-19T05:52:04.134" v="45"/>
          <ac:inkMkLst>
            <pc:docMk/>
            <pc:sldMk cId="2115484872" sldId="277"/>
            <ac:inkMk id="6" creationId="{A89955C5-BB88-2BD8-C3DC-B49AE1FA753F}"/>
          </ac:inkMkLst>
        </pc:inkChg>
        <pc:inkChg chg="add del">
          <ac:chgData name="Aman Shrivastava" userId="S::ashrivastava@edunetfoundation.org::c21995ab-fa37-4cde-b5a3-dec0fb9e9a10" providerId="AD" clId="Web-{088AD18C-7811-B1E2-9ED5-57A1A5542DF6}" dt="2026-06-19T05:52:03.634" v="44"/>
          <ac:inkMkLst>
            <pc:docMk/>
            <pc:sldMk cId="2115484872" sldId="277"/>
            <ac:inkMk id="7" creationId="{215511CE-958D-7751-754D-0682F725A052}"/>
          </ac:inkMkLst>
        </pc:inkChg>
        <pc:inkChg chg="add del">
          <ac:chgData name="Aman Shrivastava" userId="S::ashrivastava@edunetfoundation.org::c21995ab-fa37-4cde-b5a3-dec0fb9e9a10" providerId="AD" clId="Web-{088AD18C-7811-B1E2-9ED5-57A1A5542DF6}" dt="2026-06-19T05:52:03.275" v="43"/>
          <ac:inkMkLst>
            <pc:docMk/>
            <pc:sldMk cId="2115484872" sldId="277"/>
            <ac:inkMk id="8" creationId="{54C6AFEC-9CCE-EC84-7FBE-A4154B140DC8}"/>
          </ac:inkMkLst>
        </pc:inkChg>
        <pc:inkChg chg="add del">
          <ac:chgData name="Aman Shrivastava" userId="S::ashrivastava@edunetfoundation.org::c21995ab-fa37-4cde-b5a3-dec0fb9e9a10" providerId="AD" clId="Web-{088AD18C-7811-B1E2-9ED5-57A1A5542DF6}" dt="2026-06-19T06:18:51.150" v="81"/>
          <ac:inkMkLst>
            <pc:docMk/>
            <pc:sldMk cId="2115484872" sldId="277"/>
            <ac:inkMk id="9" creationId="{4288BD03-6EE6-7ADE-E088-246DCEBA2D0E}"/>
          </ac:inkMkLst>
        </pc:inkChg>
        <pc:inkChg chg="add del">
          <ac:chgData name="Aman Shrivastava" userId="S::ashrivastava@edunetfoundation.org::c21995ab-fa37-4cde-b5a3-dec0fb9e9a10" providerId="AD" clId="Web-{088AD18C-7811-B1E2-9ED5-57A1A5542DF6}" dt="2026-06-19T06:18:53.494" v="82"/>
          <ac:inkMkLst>
            <pc:docMk/>
            <pc:sldMk cId="2115484872" sldId="277"/>
            <ac:inkMk id="10" creationId="{64412BAE-99D1-29B6-F8E0-FFAEAC5EF7CE}"/>
          </ac:inkMkLst>
        </pc:inkChg>
        <pc:inkChg chg="add del">
          <ac:chgData name="Aman Shrivastava" userId="S::ashrivastava@edunetfoundation.org::c21995ab-fa37-4cde-b5a3-dec0fb9e9a10" providerId="AD" clId="Web-{088AD18C-7811-B1E2-9ED5-57A1A5542DF6}" dt="2026-06-19T06:06:19.409" v="69"/>
          <ac:inkMkLst>
            <pc:docMk/>
            <pc:sldMk cId="2115484872" sldId="277"/>
            <ac:inkMk id="11" creationId="{75A70817-4D26-F5D5-7B43-3BF146ADCFA3}"/>
          </ac:inkMkLst>
        </pc:ink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picChg chg="del">
          <ac:chgData name="Aman Shrivastava" userId="S::ashrivastava@edunetfoundation.org::c21995ab-fa37-4cde-b5a3-dec0fb9e9a10" providerId="AD" clId="Web-{088AD18C-7811-B1E2-9ED5-57A1A5542DF6}" dt="2026-06-19T06:09:56.270" v="70"/>
          <ac:picMkLst>
            <pc:docMk/>
            <pc:sldMk cId="2772501912" sldId="279"/>
            <ac:picMk id="3" creationId="{11BF3590-52D3-DC9D-2C84-E66D9597D77D}"/>
          </ac:picMkLst>
        </pc:picChg>
        <pc:picChg chg="add mod">
          <ac:chgData name="Aman Shrivastava" userId="S::ashrivastava@edunetfoundation.org::c21995ab-fa37-4cde-b5a3-dec0fb9e9a10" providerId="AD" clId="Web-{088AD18C-7811-B1E2-9ED5-57A1A5542DF6}" dt="2026-06-19T06:11:15.349" v="75" actId="1076"/>
          <ac:picMkLst>
            <pc:docMk/>
            <pc:sldMk cId="2772501912" sldId="279"/>
            <ac:picMk id="4" creationId="{C597681A-DF93-B190-DD21-CBAEDA4E3CBF}"/>
          </ac:picMkLst>
        </pc:picChg>
      </pc:sldChg>
      <pc:sldChg chg="addSp del">
        <pc:chgData name="Aman Shrivastava" userId="S::ashrivastava@edunetfoundation.org::c21995ab-fa37-4cde-b5a3-dec0fb9e9a10" providerId="AD" clId="Web-{088AD18C-7811-B1E2-9ED5-57A1A5542DF6}" dt="2026-06-19T06:28:32.545" v="260"/>
        <pc:sldMkLst>
          <pc:docMk/>
          <pc:sldMk cId="4218467252" sldId="284"/>
        </pc:sldMkLst>
        <pc:inkChg chg="add">
          <ac:chgData name="Aman Shrivastava" userId="S::ashrivastava@edunetfoundation.org::c21995ab-fa37-4cde-b5a3-dec0fb9e9a10" providerId="AD" clId="Web-{088AD18C-7811-B1E2-9ED5-57A1A5542DF6}" dt="2026-06-19T06:02:12.187" v="49"/>
          <ac:inkMkLst>
            <pc:docMk/>
            <pc:sldMk cId="4218467252" sldId="284"/>
            <ac:inkMk id="4" creationId="{022D0B6B-16B4-5876-55B2-3ACEECC98828}"/>
          </ac:inkMkLst>
        </pc:inkChg>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pChg chg="add del">
          <ac:chgData name="Aman Shrivastava" userId="S::ashrivastava@edunetfoundation.org::c21995ab-fa37-4cde-b5a3-dec0fb9e9a10" providerId="AD" clId="Web-{088AD18C-7811-B1E2-9ED5-57A1A5542DF6}" dt="2026-06-19T05:52:06.978" v="46"/>
          <ac:spMkLst>
            <pc:docMk/>
            <pc:sldMk cId="2605851928" sldId="287"/>
            <ac:spMk id="2" creationId="{22776EB6-691D-8F86-ABF4-9D27BDFB77FE}"/>
          </ac:spMkLst>
        </pc:spChg>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del">
          <ac:chgData name="Aman Shrivastava" userId="S::ashrivastava@edunetfoundation.org::c21995ab-fa37-4cde-b5a3-dec0fb9e9a10" providerId="AD" clId="Web-{088AD18C-7811-B1E2-9ED5-57A1A5542DF6}" dt="2026-06-19T05:41:05.877" v="1"/>
          <ac:spMkLst>
            <pc:docMk/>
            <pc:sldMk cId="1229047658" sldId="288"/>
            <ac:spMk id="2" creationId="{DF28AC7D-07EA-A945-E96E-15036A9DB45D}"/>
          </ac:spMkLst>
        </pc:spChg>
        <pc:spChg chg="del">
          <ac:chgData name="Aman Shrivastava" userId="S::ashrivastava@edunetfoundation.org::c21995ab-fa37-4cde-b5a3-dec0fb9e9a10" providerId="AD" clId="Web-{088AD18C-7811-B1E2-9ED5-57A1A5542DF6}" dt="2026-06-19T05:41:09.174" v="2"/>
          <ac:spMkLst>
            <pc:docMk/>
            <pc:sldMk cId="1229047658" sldId="288"/>
            <ac:spMk id="3" creationId="{6E0CE283-F2CE-BB1E-A169-02FBC85A94BA}"/>
          </ac:spMkLst>
        </pc:spChg>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picChg chg="add mod">
          <ac:chgData name="Aman Shrivastava" userId="S::ashrivastava@edunetfoundation.org::c21995ab-fa37-4cde-b5a3-dec0fb9e9a10" providerId="AD" clId="Web-{088AD18C-7811-B1E2-9ED5-57A1A5542DF6}" dt="2026-06-19T05:48:40.427" v="14" actId="14100"/>
          <ac:picMkLst>
            <pc:docMk/>
            <pc:sldMk cId="1229047658" sldId="288"/>
            <ac:picMk id="4" creationId="{AD88C341-1F2F-9B6F-593F-2917E7E23DCB}"/>
          </ac:picMkLst>
        </pc:picChg>
        <pc:picChg chg="add mod">
          <ac:chgData name="Aman Shrivastava" userId="S::ashrivastava@edunetfoundation.org::c21995ab-fa37-4cde-b5a3-dec0fb9e9a10" providerId="AD" clId="Web-{088AD18C-7811-B1E2-9ED5-57A1A5542DF6}" dt="2026-06-19T05:48:32.318" v="12" actId="14100"/>
          <ac:picMkLst>
            <pc:docMk/>
            <pc:sldMk cId="1229047658" sldId="288"/>
            <ac:picMk id="5" creationId="{78BE1AD4-7C9B-6215-1BD9-9999437CD770}"/>
          </ac:picMkLst>
        </pc:pic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del">
          <ac:chgData name="Aswini Kumar Motapothula" userId="S::aswinikumar@edunetfoundation.org::8849ae8d-bc89-4217-899c-9440ffcae5bb" providerId="AD" clId="Web-{0037A25B-DA5D-A37C-3B36-7F0977405ABF}" dt="2026-06-19T05:52:55.794" v="1"/>
          <ac:spMkLst>
            <pc:docMk/>
            <pc:sldMk cId="1229047658" sldId="288"/>
            <ac:spMk id="2" creationId="{AEE9AF93-8291-7FBB-4169-9C96AABF542F}"/>
          </ac:spMkLst>
        </pc:spChg>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picChg chg="mod">
          <ac:chgData name="Aswini Kumar Motapothula" userId="S::aswinikumar@edunetfoundation.org::8849ae8d-bc89-4217-899c-9440ffcae5bb" providerId="AD" clId="Web-{0037A25B-DA5D-A37C-3B36-7F0977405ABF}" dt="2026-06-19T05:54:10.419" v="46" actId="1076"/>
          <ac:picMkLst>
            <pc:docMk/>
            <pc:sldMk cId="1229047658" sldId="288"/>
            <ac:picMk id="4" creationId="{AD88C341-1F2F-9B6F-593F-2917E7E23DCB}"/>
          </ac:picMkLst>
        </pc:picChg>
        <pc:picChg chg="del mod">
          <ac:chgData name="Aswini Kumar Motapothula" userId="S::aswinikumar@edunetfoundation.org::8849ae8d-bc89-4217-899c-9440ffcae5bb" providerId="AD" clId="Web-{0037A25B-DA5D-A37C-3B36-7F0977405ABF}" dt="2026-06-19T05:54:19.904" v="49"/>
          <ac:picMkLst>
            <pc:docMk/>
            <pc:sldMk cId="1229047658" sldId="288"/>
            <ac:picMk id="5" creationId="{78BE1AD4-7C9B-6215-1BD9-9999437CD770}"/>
          </ac:picMkLst>
        </pc:pic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del">
          <ac:chgData name="Aswini Kumar Motapothula" userId="S::aswinikumar@edunetfoundation.org::8849ae8d-bc89-4217-899c-9440ffcae5bb" providerId="AD" clId="Web-{0037A25B-DA5D-A37C-3B36-7F0977405ABF}" dt="2026-06-19T05:54:27.466" v="53"/>
          <ac:spMkLst>
            <pc:docMk/>
            <pc:sldMk cId="2506610743" sldId="289"/>
            <ac:spMk id="2" creationId="{CB0171ED-6665-28B2-1F95-D5DB94297A27}"/>
          </ac:spMkLst>
        </pc:spChg>
        <pc:spChg chg="del">
          <ac:chgData name="Aswini Kumar Motapothula" userId="S::aswinikumar@edunetfoundation.org::8849ae8d-bc89-4217-899c-9440ffcae5bb" providerId="AD" clId="Web-{0037A25B-DA5D-A37C-3B36-7F0977405ABF}" dt="2026-06-19T05:54:30.450" v="54"/>
          <ac:spMkLst>
            <pc:docMk/>
            <pc:sldMk cId="2506610743" sldId="289"/>
            <ac:spMk id="3" creationId="{7D69201D-F352-BEC5-9310-979DE8898B63}"/>
          </ac:spMkLst>
        </pc:spChg>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a:t>“Exploring the Power of Agentic AI with IBM Granite and </a:t>
            </a:r>
            <a:r>
              <a:rPr lang="en-US" b="1" i="1" err="1"/>
              <a:t>LangFlow</a:t>
            </a:r>
            <a:r>
              <a:rPr lang="en-US" b="1" i="1"/>
              <a:t>”</a:t>
            </a:r>
            <a:endParaRPr lang="en-IN"/>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89710707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pic>
        <p:nvPicPr>
          <p:cNvPr id="98" name="Google Shape;98;p2"/>
          <p:cNvPicPr preferRelativeResize="0"/>
          <p:nvPr/>
        </p:nvPicPr>
        <p:blipFill rotWithShape="1">
          <a:blip r:embed="rId3">
            <a:alphaModFix/>
          </a:blip>
          <a:srcRect/>
          <a:stretch/>
        </p:blipFill>
        <p:spPr>
          <a:xfrm>
            <a:off x="4053024" y="3738417"/>
            <a:ext cx="762500" cy="801811"/>
          </a:xfrm>
          <a:prstGeom prst="rect">
            <a:avLst/>
          </a:prstGeom>
          <a:noFill/>
          <a:ln>
            <a:noFill/>
          </a:ln>
        </p:spPr>
      </p:pic>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a:t>Domain of  Project – </a:t>
            </a:r>
            <a:r>
              <a:rPr lang="en-US" sz="2400" b="1">
                <a:highlight>
                  <a:srgbClr val="FFFF00"/>
                </a:highlight>
              </a:rPr>
              <a:t>[ like Agriculture / Education / Healthcare / … ]</a:t>
            </a:r>
            <a:endParaRPr lang="en-IN" sz="2400" b="1">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a:t>Project Tile – </a:t>
            </a:r>
            <a:r>
              <a:rPr lang="en-US" sz="2400" b="1">
                <a:highlight>
                  <a:srgbClr val="FFFF00"/>
                </a:highlight>
              </a:rPr>
              <a:t>[</a:t>
            </a:r>
            <a:r>
              <a:rPr lang="en-US" sz="2400" b="1">
                <a:solidFill>
                  <a:srgbClr val="002060"/>
                </a:solidFill>
                <a:highlight>
                  <a:srgbClr val="FFFF00"/>
                </a:highlight>
                <a:latin typeface="Times New Roman"/>
                <a:ea typeface="Times New Roman"/>
                <a:cs typeface="Times New Roman"/>
                <a:sym typeface="Times New Roman"/>
              </a:rPr>
              <a:t>Write your project title here</a:t>
            </a:r>
            <a:r>
              <a:rPr lang="en-US" sz="2400" b="1">
                <a:highlight>
                  <a:srgbClr val="FFFF00"/>
                </a:highlight>
              </a:rPr>
              <a:t>]</a:t>
            </a:r>
            <a:endParaRPr lang="en-IN" sz="2400" b="1">
              <a:highlight>
                <a:srgbClr val="FFFF00"/>
              </a:highlight>
            </a:endParaRPr>
          </a:p>
        </p:txBody>
      </p:sp>
      <p:sp>
        <p:nvSpPr>
          <p:cNvPr id="3" name="TextBox 2">
            <a:extLst>
              <a:ext uri="{FF2B5EF4-FFF2-40B4-BE49-F238E27FC236}">
                <a16:creationId xmlns:a16="http://schemas.microsoft.com/office/drawing/2014/main" id="{B0B023FA-CFEB-ACE9-8425-7E72E307CDC5}"/>
              </a:ext>
            </a:extLst>
          </p:cNvPr>
          <p:cNvSpPr txBox="1"/>
          <p:nvPr/>
        </p:nvSpPr>
        <p:spPr>
          <a:xfrm>
            <a:off x="1211005" y="5210667"/>
            <a:ext cx="6456743"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solidFill>
                  <a:srgbClr val="FF0000"/>
                </a:solidFill>
              </a:rPr>
              <a:t>Recommended font style and size:</a:t>
            </a:r>
            <a:br>
              <a:rPr lang="en-US" sz="2000">
                <a:solidFill>
                  <a:srgbClr val="FF0000"/>
                </a:solidFill>
              </a:rPr>
            </a:br>
            <a:br>
              <a:rPr lang="en-US" sz="2000"/>
            </a:br>
            <a:r>
              <a:rPr lang="en-US" sz="2000">
                <a:solidFill>
                  <a:srgbClr val="FF0000"/>
                </a:solidFill>
              </a:rPr>
              <a:t>Font Style: Arial</a:t>
            </a:r>
            <a:br>
              <a:rPr lang="en-US" sz="2000">
                <a:solidFill>
                  <a:srgbClr val="FF0000"/>
                </a:solidFill>
              </a:rPr>
            </a:br>
            <a:r>
              <a:rPr lang="en-US" sz="2000">
                <a:solidFill>
                  <a:srgbClr val="FF0000"/>
                </a:solidFill>
              </a:rPr>
              <a:t>Font Size (Heading): 28</a:t>
            </a:r>
          </a:p>
          <a:p>
            <a:r>
              <a:rPr lang="en-US" sz="2000">
                <a:solidFill>
                  <a:srgbClr val="FF0000"/>
                </a:solidFill>
              </a:rPr>
              <a:t>Font Size (Content): 20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a:t>Problem Statement : Nutrition Agent</a:t>
            </a:r>
            <a:r>
              <a:rPr lang="en-US"/>
              <a:t> </a:t>
            </a:r>
          </a:p>
          <a:p>
            <a:pPr fontAlgn="base"/>
            <a:endParaRPr lang="en-US" b="1"/>
          </a:p>
          <a:p>
            <a:pPr fontAlgn="base"/>
            <a:r>
              <a:rPr lang="en-US" b="1"/>
              <a:t>The Challenge</a:t>
            </a:r>
            <a:r>
              <a:rPr lang="en-US"/>
              <a:t> </a:t>
            </a:r>
          </a:p>
          <a:p>
            <a:pPr fontAlgn="base"/>
            <a:r>
              <a:rPr lang="en-US"/>
              <a:t>Good nutrition is the foundation of health, but individuals often struggle with </a:t>
            </a:r>
            <a:r>
              <a:rPr lang="en-US" b="1"/>
              <a:t>diet planning, portion control, and tracking nutritional intake</a:t>
            </a:r>
            <a:r>
              <a:rPr lang="en-US"/>
              <a:t>. Information about healthy diets, disease-specific nutrition, and food composition is scattered across unreliable sources. Without </a:t>
            </a:r>
            <a:r>
              <a:rPr lang="en-US" b="1"/>
              <a:t>personalized, real-time guidance</a:t>
            </a:r>
            <a:r>
              <a:rPr lang="en-US"/>
              <a:t>, many fail to maintain balanced diets or make informed food choices. </a:t>
            </a:r>
          </a:p>
          <a:p>
            <a:pPr fontAlgn="base"/>
            <a:endParaRPr lang="en-US"/>
          </a:p>
          <a:p>
            <a:pPr fontAlgn="base"/>
            <a:r>
              <a:rPr lang="en-US" b="1"/>
              <a:t>The Objective</a:t>
            </a:r>
            <a:r>
              <a:rPr lang="en-US"/>
              <a:t> </a:t>
            </a:r>
          </a:p>
          <a:p>
            <a:pPr fontAlgn="base"/>
            <a:r>
              <a:rPr lang="en-US"/>
              <a:t>Build an </a:t>
            </a:r>
            <a:r>
              <a:rPr lang="en-US" b="1"/>
              <a:t>AI-powered Nutrition Agent</a:t>
            </a:r>
            <a:r>
              <a:rPr lang="en-US"/>
              <a:t> that delivers </a:t>
            </a:r>
            <a:r>
              <a:rPr lang="en-US" b="1"/>
              <a:t>personalized dietary insights and guidance</a:t>
            </a:r>
            <a:r>
              <a:rPr lang="en-US"/>
              <a:t> for individuals, families, and health professionals. The solution should: </a:t>
            </a:r>
          </a:p>
          <a:p>
            <a:pPr marL="285750" indent="-285750" fontAlgn="base">
              <a:buFont typeface="Arial" panose="020B0604020202020204" pitchFamily="34" charset="0"/>
              <a:buChar char="•"/>
            </a:pPr>
            <a:r>
              <a:rPr lang="en-US" b="1"/>
              <a:t>Personalized Diet Plans</a:t>
            </a:r>
            <a:r>
              <a:rPr lang="en-US"/>
              <a:t> – Recommend meals based on age, health conditions, allergies, cultural preferences, and fitness goals. </a:t>
            </a:r>
          </a:p>
          <a:p>
            <a:pPr marL="285750" indent="-285750" fontAlgn="base">
              <a:buFont typeface="Arial" panose="020B0604020202020204" pitchFamily="34" charset="0"/>
              <a:buChar char="•"/>
            </a:pPr>
            <a:r>
              <a:rPr lang="en-US" b="1"/>
              <a:t>Food Data RAG Retrieval</a:t>
            </a:r>
            <a:r>
              <a:rPr lang="en-US"/>
              <a:t> – Fetch and summarize nutritional values (calories, macros, vitamins) from reliable sources. </a:t>
            </a:r>
          </a:p>
          <a:p>
            <a:pPr marL="285750" indent="-285750" fontAlgn="base">
              <a:buFont typeface="Arial" panose="020B0604020202020204" pitchFamily="34" charset="0"/>
              <a:buChar char="•"/>
            </a:pPr>
            <a:r>
              <a:rPr lang="en-US" b="1"/>
              <a:t>Diet Tracking &amp; Feedback</a:t>
            </a:r>
            <a:r>
              <a:rPr lang="en-US"/>
              <a:t> – Allow users to log meals via text, images, or voice, and provide instant nutritional analysis. </a:t>
            </a:r>
          </a:p>
          <a:p>
            <a:pPr marL="285750" indent="-285750" fontAlgn="base">
              <a:buFont typeface="Arial" panose="020B0604020202020204" pitchFamily="34" charset="0"/>
              <a:buChar char="•"/>
            </a:pPr>
            <a:r>
              <a:rPr lang="en-US" b="1"/>
              <a:t>Preventive Health Focus</a:t>
            </a:r>
            <a:r>
              <a:rPr lang="en-US"/>
              <a:t> – Suggest diets for chronic disease management (e.g., diabetes-friendly or heart-healthy plans). </a:t>
            </a:r>
          </a:p>
          <a:p>
            <a:pPr marL="285750" indent="-285750" fontAlgn="base">
              <a:buFont typeface="Arial" panose="020B0604020202020204" pitchFamily="34" charset="0"/>
              <a:buChar char="•"/>
            </a:pPr>
            <a:r>
              <a:rPr lang="en-US" b="1"/>
              <a:t>Multi-Agent System</a:t>
            </a:r>
            <a:r>
              <a:rPr lang="en-US"/>
              <a:t> – </a:t>
            </a:r>
          </a:p>
          <a:p>
            <a:pPr marL="285750" indent="-285750" fontAlgn="base">
              <a:buFont typeface="Arial" panose="020B0604020202020204" pitchFamily="34" charset="0"/>
              <a:buChar char="•"/>
            </a:pPr>
            <a:r>
              <a:rPr lang="en-US" b="1"/>
              <a:t>Nutrition Knowledge Agent</a:t>
            </a:r>
            <a:r>
              <a:rPr lang="en-US"/>
              <a:t> (fetches nutritional data) </a:t>
            </a:r>
          </a:p>
          <a:p>
            <a:pPr marL="285750" indent="-285750" fontAlgn="base">
              <a:buFont typeface="Arial" panose="020B0604020202020204" pitchFamily="34" charset="0"/>
              <a:buChar char="•"/>
            </a:pPr>
            <a:r>
              <a:rPr lang="en-US" b="1"/>
              <a:t>Diet Recommendation Agent</a:t>
            </a:r>
            <a:r>
              <a:rPr lang="en-US"/>
              <a:t> (personalized meal plans) </a:t>
            </a:r>
          </a:p>
          <a:p>
            <a:pPr marL="285750" indent="-285750" fontAlgn="base">
              <a:buFont typeface="Arial" panose="020B0604020202020204" pitchFamily="34" charset="0"/>
              <a:buChar char="•"/>
            </a:pPr>
            <a:r>
              <a:rPr lang="en-US" b="1"/>
              <a:t>Health Advisory Agent</a:t>
            </a:r>
            <a:r>
              <a:rPr lang="en-US"/>
              <a:t> (preventive health suggestions) </a:t>
            </a:r>
          </a:p>
          <a:p>
            <a:pPr marL="285750" indent="-285750" fontAlgn="base">
              <a:buFont typeface="Arial" panose="020B0604020202020204" pitchFamily="34" charset="0"/>
              <a:buChar char="•"/>
            </a:pPr>
            <a:r>
              <a:rPr lang="en-US" b="1"/>
              <a:t>Food Log &amp; Feedback Agent</a:t>
            </a:r>
            <a:r>
              <a:rPr lang="en-US"/>
              <a:t> (meal tracking + analysis) </a:t>
            </a:r>
          </a:p>
          <a:p>
            <a:pPr marL="285750" indent="-285750" fontAlgn="base">
              <a:buFont typeface="Arial" panose="020B0604020202020204" pitchFamily="34" charset="0"/>
              <a:buChar char="•"/>
            </a:pPr>
            <a:r>
              <a:rPr lang="en-US" b="1"/>
              <a:t>Visualization Dashboard</a:t>
            </a:r>
            <a:r>
              <a:rPr lang="en-US"/>
              <a:t> – Show daily/weekly nutrient intake, deficiencies, and progress toward health goals. </a:t>
            </a:r>
          </a:p>
          <a:p>
            <a:pPr fontAlgn="base"/>
            <a:endParaRPr lang="en-US"/>
          </a:p>
          <a:p>
            <a:endParaRPr lang="en-IN"/>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a:t>Problem Statement -</a:t>
            </a:r>
            <a:endParaRPr lang="en-IN" sz="2400" b="1"/>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262979"/>
          </a:xfrm>
          <a:prstGeom prst="rect">
            <a:avLst/>
          </a:prstGeom>
          <a:noFill/>
        </p:spPr>
        <p:txBody>
          <a:bodyPr wrap="square" rtlCol="0">
            <a:spAutoFit/>
          </a:bodyPr>
          <a:lstStyle/>
          <a:p>
            <a:pPr fontAlgn="base"/>
            <a:endParaRPr lang="en-US" b="1"/>
          </a:p>
          <a:p>
            <a:r>
              <a:rPr lang="en-US" b="1"/>
              <a:t>Proposed Solution: AI-Powered Nutrition Agent</a:t>
            </a:r>
          </a:p>
          <a:p>
            <a:r>
              <a:rPr lang="en-US"/>
              <a:t>The proposed solution is a </a:t>
            </a:r>
            <a:r>
              <a:rPr lang="en-US" b="1"/>
              <a:t>multi-agent AI-powered Nutrition Agent</a:t>
            </a:r>
            <a:r>
              <a:rPr lang="en-US"/>
              <a:t> built using </a:t>
            </a:r>
            <a:r>
              <a:rPr lang="en-US" b="1" err="1"/>
              <a:t>LangFlow</a:t>
            </a:r>
            <a:r>
              <a:rPr lang="en-US" b="1"/>
              <a:t>, IBM watsonx.ai, and Granite Models</a:t>
            </a:r>
            <a:r>
              <a:rPr lang="en-US"/>
              <a:t> to provide personalized, real-time dietary guidance. The system addresses challenges in diet planning, nutrition tracking, and preventive healthcare through an intelligent, modular architecture.</a:t>
            </a:r>
          </a:p>
          <a:p>
            <a:r>
              <a:rPr lang="en-US"/>
              <a:t>At its core, the solution uses a </a:t>
            </a:r>
            <a:r>
              <a:rPr lang="en-US" b="1"/>
              <a:t>Retrieval-Augmented Generation (RAG)</a:t>
            </a:r>
            <a:r>
              <a:rPr lang="en-US"/>
              <a:t> pipeline to fetch accurate nutritional data from trusted sources such as USDA and WHO datasets. This data is embedded and stored in a vector database, enabling the system to retrieve and summarize food nutrition details (calories, macros, vitamins) using Granite models.</a:t>
            </a:r>
          </a:p>
          <a:p>
            <a:r>
              <a:rPr lang="en-US"/>
              <a:t>The system consists of four key agents:</a:t>
            </a:r>
          </a:p>
          <a:p>
            <a:r>
              <a:rPr lang="en-US" b="1"/>
              <a:t>Nutrition Knowledge Agent</a:t>
            </a:r>
            <a:r>
              <a:rPr lang="en-US"/>
              <a:t> retrieves and summarizes nutritional information using RAG. </a:t>
            </a:r>
          </a:p>
          <a:p>
            <a:r>
              <a:rPr lang="en-US" b="1"/>
              <a:t>Diet Recommendation Agent</a:t>
            </a:r>
            <a:r>
              <a:rPr lang="en-US"/>
              <a:t> generates personalized meal plans based on user inputs such as age, health conditions, dietary preferences, and fitness goals. </a:t>
            </a:r>
          </a:p>
          <a:p>
            <a:r>
              <a:rPr lang="en-US" b="1"/>
              <a:t>Health Advisory Agent</a:t>
            </a:r>
            <a:r>
              <a:rPr lang="en-US"/>
              <a:t> provides preventive health suggestions, including disease-specific diets (e.g., diabetes-friendly or heart-healthy plans). </a:t>
            </a:r>
          </a:p>
          <a:p>
            <a:r>
              <a:rPr lang="en-US" b="1"/>
              <a:t>Food Log &amp; Feedback Agent</a:t>
            </a:r>
            <a:r>
              <a:rPr lang="en-US"/>
              <a:t> allows users to log meals via text, voice, or images and delivers instant nutritional analysis with actionable feedback. </a:t>
            </a:r>
          </a:p>
          <a:p>
            <a:r>
              <a:rPr lang="en-US"/>
              <a:t>The solution includes a </a:t>
            </a:r>
            <a:r>
              <a:rPr lang="en-US" b="1"/>
              <a:t>user-friendly dashboard</a:t>
            </a:r>
            <a:r>
              <a:rPr lang="en-US"/>
              <a:t> (built with </a:t>
            </a:r>
            <a:r>
              <a:rPr lang="en-US" err="1"/>
              <a:t>Streamlit</a:t>
            </a:r>
            <a:r>
              <a:rPr lang="en-US"/>
              <a:t> or React) that visualizes daily and weekly nutrient intake, highlights deficiencies, and tracks progress toward health goals.</a:t>
            </a:r>
          </a:p>
          <a:p>
            <a:r>
              <a:rPr lang="en-US" err="1"/>
              <a:t>LangFlow</a:t>
            </a:r>
            <a:r>
              <a:rPr lang="en-US"/>
              <a:t> is used to orchestrate agent workflows, while watsonx.ai ensures scalable model deployment, embeddings, and AI governance. Granite models power reasoning, summarization, and personalization.</a:t>
            </a:r>
          </a:p>
          <a:p>
            <a:r>
              <a:rPr lang="en-US"/>
              <a:t>Overall, this solution delivers an </a:t>
            </a:r>
            <a:r>
              <a:rPr lang="en-US" b="1"/>
              <a:t>end-to-end intelligent nutrition assistant</a:t>
            </a:r>
            <a:r>
              <a:rPr lang="en-US"/>
              <a:t> that promotes healthier lifestyles through personalized insights, real-time feedback, and preventive healthcare recommendations.</a:t>
            </a:r>
          </a:p>
          <a:p>
            <a:pPr fontAlgn="base"/>
            <a:endParaRPr lang="en-US"/>
          </a:p>
          <a:p>
            <a:endParaRPr lang="en-IN"/>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err="1"/>
              <a:t>Langflow</a:t>
            </a:r>
            <a:r>
              <a:rPr lang="en-US" sz="1800" b="1"/>
              <a:t> platform </a:t>
            </a:r>
            <a:r>
              <a:rPr lang="en-US" sz="1800"/>
              <a:t>-For designing and orchestrating multi-agent workflows visually</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a:t>
            </a:r>
            <a:r>
              <a:rPr lang="en-US" sz="1800" b="1" err="1"/>
              <a:t>Grainte</a:t>
            </a:r>
            <a:r>
              <a:rPr lang="en-US" sz="1800" b="1"/>
              <a:t> model </a:t>
            </a:r>
            <a:r>
              <a:rPr lang="en-US" sz="1800"/>
              <a:t>-  for </a:t>
            </a:r>
            <a:r>
              <a:rPr lang="en-US" sz="1800" err="1"/>
              <a:t>eg</a:t>
            </a:r>
            <a:r>
              <a:rPr lang="en-US" sz="1800"/>
              <a:t> – ibm-granite-3-2-8b – For natural language understanding, reasoning, and personalization</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Cloud </a:t>
            </a:r>
            <a:r>
              <a:rPr lang="en-US" sz="1800"/>
              <a:t>– It provides the infrastructure to build, deploy, and scale the Nutrition Agent efficiently. IBM Cloud enables a </a:t>
            </a:r>
            <a:r>
              <a:rPr lang="en-US" sz="1800" b="1"/>
              <a:t>reliable, secure, and scalable environment</a:t>
            </a:r>
            <a:r>
              <a:rPr lang="en-US" sz="1800"/>
              <a:t> for deploying the Nutrition Agent.</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RAG– </a:t>
            </a:r>
            <a:r>
              <a:rPr lang="en-US" sz="1800"/>
              <a:t>RAG to </a:t>
            </a:r>
            <a:r>
              <a:rPr lang="en-US" sz="1800" b="1"/>
              <a:t>fetch real data first, then generate intelligent answers</a:t>
            </a:r>
            <a:r>
              <a:rPr lang="en-US" sz="1800"/>
              <a:t>, making the Nutrition Agent more trustworthy and effective.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US" sz="1800" b="1"/>
              <a:t>IBM Watsonx.ai - </a:t>
            </a:r>
            <a:r>
              <a:rPr lang="en-US" sz="1800"/>
              <a:t>For model deployment, embeddings, and AI governance</a:t>
            </a:r>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r>
              <a:rPr lang="en-IN" sz="1800" b="1"/>
              <a:t>Vector Database </a:t>
            </a:r>
            <a:r>
              <a:rPr lang="en-IN" sz="1800"/>
              <a:t>(FAISS/Chroma) – For RAG-based nutritional data retrieval</a:t>
            </a:r>
            <a:endParaRPr lang="en-US" sz="1800"/>
          </a:p>
          <a:p>
            <a:pPr marL="285750" indent="-285750">
              <a:buFont typeface="Arial" panose="020B0604020202020204" pitchFamily="34" charset="0"/>
              <a:buChar char="•"/>
            </a:pPr>
            <a:endParaRPr lang="en-US" sz="1800"/>
          </a:p>
          <a:p>
            <a:pPr marL="285750" indent="-285750">
              <a:buFont typeface="Arial" panose="020B0604020202020204" pitchFamily="34" charset="0"/>
              <a:buChar char="•"/>
            </a:pPr>
            <a:endParaRPr lang="en-US" sz="1800"/>
          </a:p>
          <a:p>
            <a:endParaRPr lang="en-US"/>
          </a:p>
          <a:p>
            <a:endParaRPr lang="en-IN"/>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component Used -</a:t>
            </a:r>
            <a:endParaRPr sz="2400" b="1">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5262979"/>
          </a:xfrm>
          <a:prstGeom prst="rect">
            <a:avLst/>
          </a:prstGeom>
          <a:noFill/>
        </p:spPr>
        <p:txBody>
          <a:bodyPr wrap="square" rtlCol="0">
            <a:spAutoFit/>
          </a:bodyPr>
          <a:lstStyle/>
          <a:p>
            <a:endParaRPr lang="en-US"/>
          </a:p>
          <a:p>
            <a:r>
              <a:rPr lang="en-US" b="1"/>
              <a:t>1) Chat Input </a:t>
            </a:r>
            <a:r>
              <a:rPr lang="en-US"/>
              <a:t>– Interface where users enter their queries, preferences, or meal details (text/voice/image).</a:t>
            </a:r>
          </a:p>
          <a:p>
            <a:endParaRPr lang="en-US"/>
          </a:p>
          <a:p>
            <a:r>
              <a:rPr lang="en-US" b="1"/>
              <a:t>2) IBM </a:t>
            </a:r>
            <a:r>
              <a:rPr lang="en-US" b="1" err="1"/>
              <a:t>watsonx</a:t>
            </a:r>
            <a:r>
              <a:rPr lang="en-US" b="1"/>
              <a:t> AI Agent </a:t>
            </a:r>
            <a:r>
              <a:rPr lang="en-US"/>
              <a:t>- Processes user input using Granite models to generate personalized nutrition insights and recommendations. </a:t>
            </a:r>
          </a:p>
          <a:p>
            <a:endParaRPr lang="en-US"/>
          </a:p>
          <a:p>
            <a:r>
              <a:rPr lang="en-US" b="1"/>
              <a:t>3) Name of IBM Granite model - </a:t>
            </a:r>
            <a:r>
              <a:rPr lang="en-US"/>
              <a:t>Granite-4.0-8B-Instruct → Fast, efficient for real-time diet recommendations</a:t>
            </a:r>
          </a:p>
          <a:p>
            <a:endParaRPr lang="en-US"/>
          </a:p>
          <a:p>
            <a:r>
              <a:rPr lang="en-US" b="1"/>
              <a:t>4) Chat output -</a:t>
            </a:r>
            <a:r>
              <a:rPr lang="en-US"/>
              <a:t>Displays AI-generated responses such as diet plans, nutritional analysis, and health suggestions. </a:t>
            </a:r>
          </a:p>
          <a:p>
            <a:endParaRPr lang="en-US"/>
          </a:p>
          <a:p>
            <a:r>
              <a:rPr lang="en-US" b="1"/>
              <a:t>5) </a:t>
            </a:r>
            <a:r>
              <a:rPr lang="en-US" b="1">
                <a:highlight>
                  <a:srgbClr val="FFFF00"/>
                </a:highlight>
              </a:rPr>
              <a:t>File component - </a:t>
            </a:r>
            <a:r>
              <a:rPr lang="en-US">
                <a:highlight>
                  <a:srgbClr val="FFFF00"/>
                </a:highlight>
              </a:rPr>
              <a:t>Stores and retrieves user data, meal logs, and nutritional datasets for analysis and tracking.</a:t>
            </a:r>
          </a:p>
          <a:p>
            <a:endParaRPr lang="en-US"/>
          </a:p>
          <a:p>
            <a:endParaRPr lang="en-US"/>
          </a:p>
          <a:p>
            <a:r>
              <a:rPr lang="en-US"/>
              <a:t>6) </a:t>
            </a:r>
            <a:r>
              <a:rPr lang="en-US">
                <a:highlight>
                  <a:srgbClr val="FFFF00"/>
                </a:highlight>
              </a:rPr>
              <a:t>Add name of any other component used.</a:t>
            </a:r>
          </a:p>
          <a:p>
            <a:pPr marL="342900" indent="-342900">
              <a:buAutoNum type="arabicParenR" startAt="3"/>
            </a:pPr>
            <a:endParaRPr lang="en-US"/>
          </a:p>
          <a:p>
            <a:endParaRPr lang="en-US"/>
          </a:p>
          <a:p>
            <a:endParaRPr lang="en-US"/>
          </a:p>
          <a:p>
            <a:endParaRPr lang="en-US"/>
          </a:p>
          <a:p>
            <a:endParaRPr lang="en-US"/>
          </a:p>
          <a:p>
            <a:endParaRPr lang="en-US"/>
          </a:p>
          <a:p>
            <a:endParaRPr lang="en-US"/>
          </a:p>
          <a:p>
            <a:r>
              <a:rPr lang="en-US"/>
              <a:t> </a:t>
            </a:r>
            <a:endParaRPr lang="en-IN"/>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err="1">
                <a:sym typeface="Times New Roman"/>
              </a:rPr>
              <a:t>Langflow</a:t>
            </a:r>
            <a:r>
              <a:rPr lang="en-US" sz="3500" b="1" i="0" u="none" strike="noStrike" cap="none">
                <a:solidFill>
                  <a:srgbClr val="051D3A"/>
                </a:solidFill>
                <a:latin typeface="Times New Roman"/>
                <a:ea typeface="Times New Roman"/>
                <a:cs typeface="Times New Roman"/>
                <a:sym typeface="Times New Roman"/>
              </a:rPr>
              <a:t> </a:t>
            </a:r>
            <a:r>
              <a:rPr lang="en-US" sz="2400" b="1">
                <a:sym typeface="Times New Roman"/>
              </a:rPr>
              <a:t>workflow -</a:t>
            </a:r>
            <a:endParaRPr sz="2400" b="1">
              <a:sym typeface="Times New Roman"/>
            </a:endParaRPr>
          </a:p>
        </p:txBody>
      </p:sp>
      <p:pic>
        <p:nvPicPr>
          <p:cNvPr id="4" name="Picture 3" descr="A screenshot of a computer&#10;&#10;AI-generated content may be incorrect.">
            <a:extLst>
              <a:ext uri="{FF2B5EF4-FFF2-40B4-BE49-F238E27FC236}">
                <a16:creationId xmlns:a16="http://schemas.microsoft.com/office/drawing/2014/main" id="{C597681A-DF93-B190-DD21-CBAEDA4E3CBF}"/>
              </a:ext>
            </a:extLst>
          </p:cNvPr>
          <p:cNvPicPr>
            <a:picLocks noChangeAspect="1"/>
          </p:cNvPicPr>
          <p:nvPr/>
        </p:nvPicPr>
        <p:blipFill>
          <a:blip r:embed="rId3"/>
          <a:stretch>
            <a:fillRect/>
          </a:stretch>
        </p:blipFill>
        <p:spPr>
          <a:xfrm>
            <a:off x="535570" y="1139263"/>
            <a:ext cx="11468100" cy="5505450"/>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a:solidFill>
                  <a:schemeClr val="dk1"/>
                </a:solidFill>
                <a:latin typeface="Calibri"/>
                <a:ea typeface="Calibri"/>
                <a:cs typeface="Calibri"/>
                <a:sym typeface="Calibri"/>
              </a:rPr>
              <a:t>Architecture blueprint</a:t>
            </a:r>
            <a:endParaRPr lang="en-US" sz="2400"/>
          </a:p>
        </p:txBody>
      </p:sp>
      <p:pic>
        <p:nvPicPr>
          <p:cNvPr id="3" name="Picture 2">
            <a:extLst>
              <a:ext uri="{FF2B5EF4-FFF2-40B4-BE49-F238E27FC236}">
                <a16:creationId xmlns:a16="http://schemas.microsoft.com/office/drawing/2014/main" id="{81932CE2-F219-0CA8-0102-55B8C682B8A2}"/>
              </a:ext>
            </a:extLst>
          </p:cNvPr>
          <p:cNvPicPr>
            <a:picLocks noChangeAspect="1"/>
          </p:cNvPicPr>
          <p:nvPr/>
        </p:nvPicPr>
        <p:blipFill>
          <a:blip r:embed="rId3"/>
          <a:stretch>
            <a:fillRect/>
          </a:stretch>
        </p:blipFill>
        <p:spPr>
          <a:xfrm>
            <a:off x="535570" y="675732"/>
            <a:ext cx="11468100" cy="61817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a:t>Role of Agentic AI in Nutrition Agent</a:t>
            </a:r>
          </a:p>
          <a:p>
            <a:r>
              <a:rPr lang="en-US" b="1"/>
              <a:t>Agentic AI</a:t>
            </a:r>
            <a:r>
              <a:rPr lang="en-US"/>
              <a:t> enables the Nutrition Agent to function as an intelligent, autonomous system rather than a simple chatbot. Using </a:t>
            </a:r>
            <a:r>
              <a:rPr lang="en-US" b="1"/>
              <a:t>IBM watsonx.ai</a:t>
            </a:r>
            <a:r>
              <a:rPr lang="en-US"/>
              <a:t> and </a:t>
            </a:r>
            <a:r>
              <a:rPr lang="en-US" b="1"/>
              <a:t>IBM Granite models</a:t>
            </a:r>
            <a:r>
              <a:rPr lang="en-US"/>
              <a:t>, it coordinates multiple specialized agents to deliver personalized nutrition guidance.</a:t>
            </a:r>
          </a:p>
          <a:p>
            <a:r>
              <a:rPr lang="en-US"/>
              <a:t>Each agent performs a specific role—such as retrieving nutritional data, generating diet plans, providing health advice, and analyzing food logs—while working collaboratively. This </a:t>
            </a:r>
            <a:r>
              <a:rPr lang="en-US" b="1"/>
              <a:t>multi-agent approach</a:t>
            </a:r>
            <a:r>
              <a:rPr lang="en-US"/>
              <a:t> ensures efficient task execution and accurate results.</a:t>
            </a:r>
          </a:p>
          <a:p>
            <a:r>
              <a:rPr lang="en-US"/>
              <a:t>Agentic AI also brings </a:t>
            </a:r>
            <a:r>
              <a:rPr lang="en-US" b="1"/>
              <a:t>context awareness</a:t>
            </a:r>
            <a:r>
              <a:rPr lang="en-US"/>
              <a:t>, understanding user details like age, health conditions, and fitness goals to generate tailored recommendations. It supports </a:t>
            </a:r>
            <a:r>
              <a:rPr lang="en-US" b="1"/>
              <a:t>real-time adaptation</a:t>
            </a:r>
            <a:r>
              <a:rPr lang="en-US"/>
              <a:t>, continuously updating suggestions based on user inputs like daily meals.</a:t>
            </a:r>
          </a:p>
          <a:p>
            <a:r>
              <a:rPr lang="en-US"/>
              <a:t>Additionally, agents communicate with each other, enabling better decision-making and improved outcomes.</a:t>
            </a:r>
          </a:p>
          <a:p>
            <a:r>
              <a:rPr lang="en-US"/>
              <a:t>Overall, Agentic AI makes the system proactive, personalized, and goal-driven, acting like a </a:t>
            </a:r>
            <a:r>
              <a:rPr lang="en-US" b="1"/>
              <a:t>smart digital nutritionist</a:t>
            </a:r>
            <a:r>
              <a:rPr lang="en-US"/>
              <a:t> that helps users maintain a healthy lifestyle.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793192" y="3415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a:sym typeface="Times New Roman"/>
              </a:rPr>
              <a:t>Token Usage </a:t>
            </a:r>
            <a:endParaRPr sz="2400" b="1">
              <a:sym typeface="Times New Roman"/>
            </a:endParaRPr>
          </a:p>
        </p:txBody>
      </p:sp>
      <p:sp>
        <p:nvSpPr>
          <p:cNvPr id="280" name="Google Shape;280;p18">
            <a:extLst>
              <a:ext uri="{FF2B5EF4-FFF2-40B4-BE49-F238E27FC236}">
                <a16:creationId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5" name="TextBox 4">
            <a:extLst>
              <a:ext uri="{FF2B5EF4-FFF2-40B4-BE49-F238E27FC236}">
                <a16:creationId xmlns:a16="http://schemas.microsoft.com/office/drawing/2014/main" id="{1BD576A0-BF64-32B6-1E59-49AA2C59C5CE}"/>
              </a:ext>
            </a:extLst>
          </p:cNvPr>
          <p:cNvSpPr txBox="1"/>
          <p:nvPr/>
        </p:nvSpPr>
        <p:spPr>
          <a:xfrm>
            <a:off x="897392" y="1042133"/>
            <a:ext cx="4371171"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11,761 token are used</a:t>
            </a:r>
          </a:p>
        </p:txBody>
      </p:sp>
      <p:pic>
        <p:nvPicPr>
          <p:cNvPr id="12" name="Picture 11" descr="A screenshot of a computer&#10;&#10;AI-generated content may be incorrect.">
            <a:extLst>
              <a:ext uri="{FF2B5EF4-FFF2-40B4-BE49-F238E27FC236}">
                <a16:creationId xmlns:a16="http://schemas.microsoft.com/office/drawing/2014/main" id="{3E29AF1D-88C4-87E5-74DF-4E97121E06CE}"/>
              </a:ext>
            </a:extLst>
          </p:cNvPr>
          <p:cNvPicPr>
            <a:picLocks noChangeAspect="1"/>
          </p:cNvPicPr>
          <p:nvPr/>
        </p:nvPicPr>
        <p:blipFill>
          <a:blip r:embed="rId3"/>
          <a:stretch>
            <a:fillRect/>
          </a:stretch>
        </p:blipFill>
        <p:spPr>
          <a:xfrm>
            <a:off x="114240" y="2453592"/>
            <a:ext cx="5095875" cy="2857500"/>
          </a:xfrm>
          <a:prstGeom prst="rect">
            <a:avLst/>
          </a:prstGeom>
        </p:spPr>
      </p:pic>
      <p:pic>
        <p:nvPicPr>
          <p:cNvPr id="13" name="Picture 12" descr="A screenshot of a computer&#10;&#10;AI-generated content may be incorrect.">
            <a:extLst>
              <a:ext uri="{FF2B5EF4-FFF2-40B4-BE49-F238E27FC236}">
                <a16:creationId xmlns:a16="http://schemas.microsoft.com/office/drawing/2014/main" id="{C81444F5-0692-DD67-1759-70821E53B029}"/>
              </a:ext>
            </a:extLst>
          </p:cNvPr>
          <p:cNvPicPr>
            <a:picLocks noChangeAspect="1"/>
          </p:cNvPicPr>
          <p:nvPr/>
        </p:nvPicPr>
        <p:blipFill>
          <a:blip r:embed="rId4"/>
          <a:stretch>
            <a:fillRect/>
          </a:stretch>
        </p:blipFill>
        <p:spPr>
          <a:xfrm>
            <a:off x="6159601" y="2451181"/>
            <a:ext cx="5724525" cy="2857500"/>
          </a:xfrm>
          <a:prstGeom prst="rect">
            <a:avLst/>
          </a:prstGeom>
        </p:spPr>
      </p:pic>
      <p:sp>
        <p:nvSpPr>
          <p:cNvPr id="14" name="TextBox 13">
            <a:extLst>
              <a:ext uri="{FF2B5EF4-FFF2-40B4-BE49-F238E27FC236}">
                <a16:creationId xmlns:a16="http://schemas.microsoft.com/office/drawing/2014/main" id="{7B8E599E-5B1D-59CD-4F1D-CEF8D0CA327B}"/>
              </a:ext>
            </a:extLst>
          </p:cNvPr>
          <p:cNvSpPr txBox="1"/>
          <p:nvPr/>
        </p:nvSpPr>
        <p:spPr>
          <a:xfrm>
            <a:off x="1278639" y="1718067"/>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Before Prompt</a:t>
            </a:r>
          </a:p>
        </p:txBody>
      </p:sp>
      <p:sp>
        <p:nvSpPr>
          <p:cNvPr id="15" name="TextBox 14">
            <a:extLst>
              <a:ext uri="{FF2B5EF4-FFF2-40B4-BE49-F238E27FC236}">
                <a16:creationId xmlns:a16="http://schemas.microsoft.com/office/drawing/2014/main" id="{B22EA981-5113-2D05-C1A2-169306E1D47C}"/>
              </a:ext>
            </a:extLst>
          </p:cNvPr>
          <p:cNvSpPr txBox="1"/>
          <p:nvPr/>
        </p:nvSpPr>
        <p:spPr>
          <a:xfrm>
            <a:off x="7106828" y="1722919"/>
            <a:ext cx="2743199"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u="sng"/>
              <a:t>After the Prompt</a:t>
            </a:r>
          </a:p>
        </p:txBody>
      </p:sp>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293757"/>
          </a:xfrm>
          <a:prstGeom prst="rect">
            <a:avLst/>
          </a:prstGeom>
          <a:noFill/>
        </p:spPr>
        <p:txBody>
          <a:bodyPr wrap="square" rtlCol="0">
            <a:spAutoFit/>
          </a:bodyPr>
          <a:lstStyle/>
          <a:p>
            <a:r>
              <a:rPr lang="en-IN" sz="1800"/>
              <a:t>The proposed Nutrition Agent stands out by combining </a:t>
            </a:r>
            <a:r>
              <a:rPr lang="en-IN" sz="1800" b="1"/>
              <a:t>Agentic AI, RAG, and personalization</a:t>
            </a:r>
            <a:r>
              <a:rPr lang="en-IN" sz="1800"/>
              <a:t> into a single intelligent system.</a:t>
            </a:r>
          </a:p>
          <a:p>
            <a:endParaRPr lang="en-IN" sz="1800"/>
          </a:p>
          <a:p>
            <a:r>
              <a:rPr lang="en-IN" sz="1800" b="1"/>
              <a:t>Multi-Agent Intelligence</a:t>
            </a:r>
            <a:r>
              <a:rPr lang="en-IN" sz="1800"/>
              <a:t> – Instead of a single chatbot, multiple specialized agents collaborate to deliver accurate and context-aware nutrition guidance. </a:t>
            </a:r>
          </a:p>
          <a:p>
            <a:r>
              <a:rPr lang="en-IN" sz="1800" b="1"/>
              <a:t>RAG-Based Accuracy</a:t>
            </a:r>
            <a:r>
              <a:rPr lang="en-IN" sz="1800"/>
              <a:t> – Integrates real-time data retrieval with AI generation, reducing misinformation and ensuring trustworthy recommendations. </a:t>
            </a:r>
          </a:p>
          <a:p>
            <a:r>
              <a:rPr lang="en-IN" sz="1800" b="1"/>
              <a:t>Hyper-Personalization</a:t>
            </a:r>
            <a:r>
              <a:rPr lang="en-IN" sz="1800"/>
              <a:t> – Tailors diet plans based on health conditions, cultural preferences, and fitness goals. </a:t>
            </a:r>
          </a:p>
          <a:p>
            <a:r>
              <a:rPr lang="en-IN" sz="1800" b="1"/>
              <a:t>Real-Time Feedback Loop</a:t>
            </a:r>
            <a:r>
              <a:rPr lang="en-IN" sz="1800"/>
              <a:t> – Continuously adapts recommendations based on daily food logs and user </a:t>
            </a:r>
            <a:r>
              <a:rPr lang="en-IN" sz="1800" err="1"/>
              <a:t>behavior</a:t>
            </a:r>
            <a:r>
              <a:rPr lang="en-IN" sz="1800"/>
              <a:t>. </a:t>
            </a:r>
          </a:p>
          <a:p>
            <a:r>
              <a:rPr lang="en-IN" sz="1800" b="1"/>
              <a:t>Multi-Modal Input</a:t>
            </a:r>
            <a:r>
              <a:rPr lang="en-IN" sz="1800"/>
              <a:t> – Supports text, voice, and image-based meal tracking for better usability. </a:t>
            </a:r>
          </a:p>
          <a:p>
            <a:r>
              <a:rPr lang="en-IN" sz="1800" b="1"/>
              <a:t>Preventive Healthcare Focus</a:t>
            </a:r>
            <a:r>
              <a:rPr lang="en-IN" sz="1800"/>
              <a:t> – Goes beyond diet planning to provide disease-specific nutrition advice. </a:t>
            </a:r>
          </a:p>
          <a:p>
            <a:r>
              <a:rPr lang="en-IN" sz="1800" b="1"/>
              <a:t>Scalable &amp; Enterprise-Ready</a:t>
            </a:r>
            <a:r>
              <a:rPr lang="en-IN" sz="1800"/>
              <a:t> – Built on </a:t>
            </a:r>
            <a:r>
              <a:rPr lang="en-IN" sz="1800" b="1"/>
              <a:t>IBM watsonx.ai</a:t>
            </a:r>
            <a:r>
              <a:rPr lang="en-IN" sz="1800"/>
              <a:t> with </a:t>
            </a:r>
            <a:r>
              <a:rPr lang="en-IN" sz="1800" b="1"/>
              <a:t>IBM Granite models</a:t>
            </a:r>
            <a:r>
              <a:rPr lang="en-IN" sz="1800"/>
              <a:t>, ensuring reliability and governance. </a:t>
            </a:r>
          </a:p>
          <a:p>
            <a:endParaRPr lang="en-IN" sz="1800"/>
          </a:p>
          <a:p>
            <a:r>
              <a:rPr lang="en-IN" sz="1800"/>
              <a:t>This makes the solution a </a:t>
            </a:r>
            <a:r>
              <a:rPr lang="en-IN" sz="1800" b="1"/>
              <a:t>smart, adaptive, and proactive digital nutritionist</a:t>
            </a:r>
            <a:r>
              <a:rPr lang="en-IN" sz="1800"/>
              <a:t>, not just a static diet recommendation tool.</a:t>
            </a:r>
            <a:endParaRPr lang="en-US"/>
          </a:p>
          <a:p>
            <a:endParaRPr lang="en-IN"/>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 Please create public </a:t>
            </a:r>
            <a:r>
              <a:rPr lang="en-US" sz="1850" b="0" i="0" u="none" strike="noStrike" cap="none" err="1">
                <a:solidFill>
                  <a:srgbClr val="2B3541"/>
                </a:solidFill>
                <a:latin typeface="Times New Roman"/>
                <a:ea typeface="Times New Roman"/>
                <a:cs typeface="Times New Roman"/>
                <a:sym typeface="Times New Roman"/>
              </a:rPr>
              <a:t>github</a:t>
            </a:r>
            <a:r>
              <a:rPr lang="en-US" sz="1850" b="0" i="0" u="none" strike="noStrike" cap="none">
                <a:solidFill>
                  <a:srgbClr val="2B3541"/>
                </a:solidFill>
                <a:latin typeface="Times New Roman"/>
                <a:ea typeface="Times New Roman"/>
                <a:cs typeface="Times New Roman"/>
                <a:sym typeface="Times New Roman"/>
              </a:rPr>
              <a:t> repository (Enable Add README  button while creating repository) with format – </a:t>
            </a:r>
          </a:p>
          <a:p>
            <a:pPr marL="0" marR="0" lvl="0" indent="0" algn="l" rtl="0">
              <a:lnSpc>
                <a:spcPct val="162162"/>
              </a:lnSpc>
              <a:spcBef>
                <a:spcPts val="0"/>
              </a:spcBef>
              <a:spcAft>
                <a:spcPts val="0"/>
              </a:spcAft>
              <a:buClr>
                <a:srgbClr val="2B3541"/>
              </a:buClr>
              <a:buSzPts val="1850"/>
              <a:buFont typeface="Times New Roman"/>
              <a:buNone/>
            </a:pPr>
            <a:r>
              <a:rPr lang="en-US" sz="1850">
                <a:solidFill>
                  <a:srgbClr val="2B3541"/>
                </a:solidFill>
                <a:latin typeface="Times New Roman"/>
                <a:ea typeface="Times New Roman"/>
                <a:cs typeface="Times New Roman"/>
                <a:sym typeface="Times New Roman"/>
              </a:rPr>
              <a:t>Please test and Paste the working  </a:t>
            </a:r>
            <a:r>
              <a:rPr lang="en-US" sz="1850" err="1">
                <a:solidFill>
                  <a:srgbClr val="2B3541"/>
                </a:solidFill>
                <a:latin typeface="Times New Roman"/>
                <a:ea typeface="Times New Roman"/>
                <a:cs typeface="Times New Roman"/>
                <a:sym typeface="Times New Roman"/>
              </a:rPr>
              <a:t>Github</a:t>
            </a:r>
            <a:r>
              <a:rPr lang="en-US" sz="1850">
                <a:solidFill>
                  <a:srgbClr val="2B3541"/>
                </a:solidFill>
                <a:latin typeface="Times New Roman"/>
                <a:ea typeface="Times New Roman"/>
                <a:cs typeface="Times New Roman"/>
                <a:sym typeface="Times New Roman"/>
              </a:rPr>
              <a:t> URL –</a:t>
            </a:r>
          </a:p>
          <a:p>
            <a:pPr lvl="0">
              <a:lnSpc>
                <a:spcPct val="162162"/>
              </a:lnSpc>
              <a:buClr>
                <a:srgbClr val="2B3541"/>
              </a:buClr>
              <a:buSzPts val="1850"/>
            </a:pPr>
            <a:r>
              <a:rPr lang="en-US" sz="1850" b="1">
                <a:solidFill>
                  <a:srgbClr val="2B3541"/>
                </a:solidFill>
                <a:latin typeface="Times New Roman"/>
                <a:ea typeface="Times New Roman"/>
                <a:cs typeface="Times New Roman"/>
                <a:sym typeface="Times New Roman"/>
              </a:rPr>
              <a:t>Make sure you have Uploaded following three files into your </a:t>
            </a:r>
            <a:r>
              <a:rPr lang="en-US" sz="1850" b="1" err="1">
                <a:solidFill>
                  <a:srgbClr val="2B3541"/>
                </a:solidFill>
                <a:latin typeface="Times New Roman"/>
                <a:ea typeface="Times New Roman"/>
                <a:cs typeface="Times New Roman"/>
                <a:sym typeface="Times New Roman"/>
              </a:rPr>
              <a:t>github</a:t>
            </a:r>
            <a:r>
              <a:rPr lang="en-US" sz="1850" b="1">
                <a:solidFill>
                  <a:srgbClr val="2B3541"/>
                </a:solidFill>
                <a:latin typeface="Times New Roman"/>
                <a:ea typeface="Times New Roman"/>
                <a:cs typeface="Times New Roman"/>
                <a:sym typeface="Times New Roman"/>
              </a:rPr>
              <a:t> repository  </a:t>
            </a:r>
            <a:br>
              <a:rPr lang="en-US" sz="1850">
                <a:solidFill>
                  <a:srgbClr val="2B3541"/>
                </a:solidFill>
                <a:latin typeface="Times New Roman"/>
                <a:ea typeface="Times New Roman"/>
                <a:cs typeface="Times New Roman"/>
                <a:sym typeface="Times New Roman"/>
              </a:rPr>
            </a:br>
            <a:r>
              <a:rPr lang="en-US" sz="1850">
                <a:solidFill>
                  <a:srgbClr val="2B3541"/>
                </a:solidFill>
                <a:latin typeface="Times New Roman"/>
                <a:ea typeface="Times New Roman"/>
                <a:cs typeface="Times New Roman"/>
                <a:sym typeface="Times New Roman"/>
              </a:rPr>
              <a:t>1) </a:t>
            </a:r>
            <a:r>
              <a:rPr lang="en-US" sz="1850" err="1">
                <a:solidFill>
                  <a:srgbClr val="2B3541"/>
                </a:solidFill>
                <a:latin typeface="Times New Roman"/>
                <a:ea typeface="Times New Roman"/>
                <a:cs typeface="Times New Roman"/>
                <a:sym typeface="Times New Roman"/>
              </a:rPr>
              <a:t>app.json</a:t>
            </a:r>
            <a:r>
              <a:rPr lang="en-US" sz="1850">
                <a:solidFill>
                  <a:srgbClr val="2B3541"/>
                </a:solidFill>
                <a:latin typeface="Times New Roman"/>
                <a:ea typeface="Times New Roman"/>
                <a:cs typeface="Times New Roman"/>
                <a:sym typeface="Times New Roman"/>
              </a:rPr>
              <a:t> file , 2) yourproblemstatement.pdf file  3) your projectpresntation.pptx file 4)any other files </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1" i="0" u="none" strike="noStrike" cap="none">
                <a:solidFill>
                  <a:srgbClr val="2B3541"/>
                </a:solidFill>
                <a:latin typeface="Times New Roman"/>
                <a:ea typeface="Times New Roman"/>
                <a:cs typeface="Times New Roman"/>
                <a:sym typeface="Times New Roman"/>
              </a:rPr>
              <a:t>1.Integration with Wearables &amp; Health Devices –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The system can be integrated with smartwatches and fitness trackers to collect real-time data such as steps, calories burned, heart rate, and sleep patterns. This will enable the Nutrition Agent to provide more accurate and dynamic diet recommendations based on actual user activity and health metrics.</a:t>
            </a:r>
          </a:p>
          <a:p>
            <a:pPr marL="0" marR="0" lvl="0" indent="0" algn="l" rtl="0">
              <a:lnSpc>
                <a:spcPct val="162162"/>
              </a:lnSpc>
              <a:spcBef>
                <a:spcPts val="0"/>
              </a:spcBef>
              <a:spcAft>
                <a:spcPts val="0"/>
              </a:spcAft>
              <a:buClr>
                <a:srgbClr val="2B3541"/>
              </a:buClr>
              <a:buSzPts val="1850"/>
              <a:buFont typeface="Times New Roman"/>
              <a:buNone/>
            </a:pPr>
            <a:r>
              <a:rPr lang="en-US" sz="1850" b="1">
                <a:solidFill>
                  <a:srgbClr val="2B3541"/>
                </a:solidFill>
                <a:latin typeface="Times New Roman"/>
                <a:ea typeface="Times New Roman"/>
                <a:cs typeface="Times New Roman"/>
                <a:sym typeface="Times New Roman"/>
              </a:rPr>
              <a:t>2.</a:t>
            </a:r>
            <a:r>
              <a:rPr lang="en-US" sz="1850" b="1" i="0" u="none" strike="noStrike" cap="none">
                <a:solidFill>
                  <a:srgbClr val="2B3541"/>
                </a:solidFill>
                <a:latin typeface="Times New Roman"/>
                <a:ea typeface="Times New Roman"/>
                <a:cs typeface="Times New Roman"/>
                <a:sym typeface="Times New Roman"/>
              </a:rPr>
              <a:t>AI-Powered Voice Assistant &amp; Multilingual Support </a:t>
            </a:r>
            <a:r>
              <a:rPr lang="en-US" sz="1850" b="0" i="0" u="none" strike="noStrike" cap="none">
                <a:solidFill>
                  <a:srgbClr val="2B3541"/>
                </a:solidFill>
                <a:latin typeface="Times New Roman"/>
                <a:ea typeface="Times New Roman"/>
                <a:cs typeface="Times New Roman"/>
                <a:sym typeface="Times New Roman"/>
              </a:rPr>
              <a:t>– </a:t>
            </a:r>
          </a:p>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Enhancing the system with a voice-enabled assistant and support for multiple languages will improve accessibility. Users can interact naturally in their preferred language, making the solution more inclusive and suitable for diverse populations, especially in regions with varied linguistic backgrounds.</a:t>
            </a:r>
            <a:endParaRPr sz="1850" b="0" i="0" u="none" strike="noStrike" cap="none">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D88C341-1F2F-9B6F-593F-2917E7E23DCB}"/>
              </a:ext>
            </a:extLst>
          </p:cNvPr>
          <p:cNvPicPr>
            <a:picLocks noChangeAspect="1"/>
          </p:cNvPicPr>
          <p:nvPr/>
        </p:nvPicPr>
        <p:blipFill>
          <a:blip r:embed="rId2"/>
          <a:stretch>
            <a:fillRect/>
          </a:stretch>
        </p:blipFill>
        <p:spPr>
          <a:xfrm>
            <a:off x="1140862" y="1485577"/>
            <a:ext cx="6911761" cy="4520796"/>
          </a:xfrm>
          <a:prstGeom prst="rect">
            <a:avLst/>
          </a:prstGeom>
        </p:spPr>
      </p:pic>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sp>
        <p:nvSpPr>
          <p:cNvPr id="3" name="TextBox 2">
            <a:extLst>
              <a:ext uri="{FF2B5EF4-FFF2-40B4-BE49-F238E27FC236}">
                <a16:creationId xmlns:a16="http://schemas.microsoft.com/office/drawing/2014/main" id="{4837D5EE-379B-FDC5-0854-8AC81D31FADF}"/>
              </a:ext>
            </a:extLst>
          </p:cNvPr>
          <p:cNvSpPr txBox="1"/>
          <p:nvPr/>
        </p:nvSpPr>
        <p:spPr>
          <a:xfrm>
            <a:off x="552048" y="690061"/>
            <a:ext cx="6389965"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t>Please  add your credly certificate </a:t>
            </a:r>
          </a:p>
        </p:txBody>
      </p:sp>
    </p:spTree>
    <p:extLst>
      <p:ext uri="{BB962C8B-B14F-4D97-AF65-F5344CB8AC3E}">
        <p14:creationId xmlns:p14="http://schemas.microsoft.com/office/powerpoint/2010/main" val="1229047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ertificate with red text&#10;&#10;AI-generated content may be incorrect.">
            <a:extLst>
              <a:ext uri="{FF2B5EF4-FFF2-40B4-BE49-F238E27FC236}">
                <a16:creationId xmlns:a16="http://schemas.microsoft.com/office/drawing/2014/main" id="{099C3698-991D-7A38-C456-893C84C23FC9}"/>
              </a:ext>
            </a:extLst>
          </p:cNvPr>
          <p:cNvPicPr>
            <a:picLocks noChangeAspect="1"/>
          </p:cNvPicPr>
          <p:nvPr/>
        </p:nvPicPr>
        <p:blipFill>
          <a:blip r:embed="rId2"/>
          <a:srcRect r="177" b="-275"/>
          <a:stretch>
            <a:fillRect/>
          </a:stretch>
        </p:blipFill>
        <p:spPr>
          <a:xfrm>
            <a:off x="2512736" y="1712637"/>
            <a:ext cx="7177553" cy="4658577"/>
          </a:xfrm>
          <a:prstGeom prst="rect">
            <a:avLst/>
          </a:prstGeom>
        </p:spPr>
      </p:pic>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sp>
        <p:nvSpPr>
          <p:cNvPr id="6" name="TextBox 5">
            <a:extLst>
              <a:ext uri="{FF2B5EF4-FFF2-40B4-BE49-F238E27FC236}">
                <a16:creationId xmlns:a16="http://schemas.microsoft.com/office/drawing/2014/main" id="{C0D36B1A-26C2-CD55-1032-4CB5E4EDF305}"/>
              </a:ext>
            </a:extLst>
          </p:cNvPr>
          <p:cNvSpPr txBox="1"/>
          <p:nvPr/>
        </p:nvSpPr>
        <p:spPr>
          <a:xfrm>
            <a:off x="496843" y="800470"/>
            <a:ext cx="5437681"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a:t>Add your IBM BOB Certificate</a:t>
            </a:r>
          </a:p>
        </p:txBody>
      </p:sp>
    </p:spTree>
    <p:extLst>
      <p:ext uri="{BB962C8B-B14F-4D97-AF65-F5344CB8AC3E}">
        <p14:creationId xmlns:p14="http://schemas.microsoft.com/office/powerpoint/2010/main" val="2506610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16</Slides>
  <Notes>13</Notes>
  <HiddenSlides>0</HiddenSlide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revision>1</cp:revision>
  <dcterms:created xsi:type="dcterms:W3CDTF">2025-07-08T05:06:56Z</dcterms:created>
  <dcterms:modified xsi:type="dcterms:W3CDTF">2026-06-19T06:29:24Z</dcterms:modified>
</cp:coreProperties>
</file>